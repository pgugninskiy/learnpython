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8" r:id="rId3"/>
    <p:sldId id="256" r:id="rId4"/>
    <p:sldId id="257" r:id="rId5"/>
    <p:sldId id="259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s.gugninskii\Downloads\2025-02-20%20Opros%20krosskomandnogo%20vzaimodeistviia%20BA-SA_424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s.gugninskii\Downloads\2025-02-20%20Opros%20krosskomandnogo%20vzaimodeistviia%20BA-SA_424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Опрос СА по кросскомандному взаимодействия БА-СА</a:t>
            </a:r>
          </a:p>
        </c:rich>
      </c:tx>
      <c:layout>
        <c:manualLayout>
          <c:xMode val="edge"/>
          <c:yMode val="edge"/>
          <c:x val="0.27073443265244018"/>
          <c:y val="2.8055738257979504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'[2025-02-20 Opros krosskomandnogo vzaimodeistviia BA-SA_424.xlsx]Sheet'!$A$20:$P$20</c:f>
              <c:strCache>
                <c:ptCount val="16"/>
                <c:pt idx="0">
                  <c:v>Мы регулярно обсуждаем границы наших ролей и возможные изменения</c:v>
                </c:pt>
                <c:pt idx="1">
                  <c:v>Я знаю, какие задачи и обязанности лежат на другой команде</c:v>
                </c:pt>
                <c:pt idx="2">
                  <c:v>Информация между нашими командами передается своевременно</c:v>
                </c:pt>
                <c:pt idx="3">
                  <c:v>Частота встреч и совещаний достаточна для успешного взаимодействия</c:v>
                </c:pt>
                <c:pt idx="4">
                  <c:v>У нас есть механизмы для быстрого реагирования на проблемы</c:v>
                </c:pt>
                <c:pt idx="5">
                  <c:v>Насколько удовлетворены вы результатами совместного взаимодействия?</c:v>
                </c:pt>
                <c:pt idx="6">
                  <c:v>Мы эффективно объединяем наши знания для достижения общих целей</c:v>
                </c:pt>
                <c:pt idx="7">
                  <c:v>Мы чувствуем себя частью одной большой команды, несмотря на разделение ролей</c:v>
                </c:pt>
                <c:pt idx="8">
                  <c:v>Команда БА понимает мои задачи и обязанности</c:v>
                </c:pt>
                <c:pt idx="9">
                  <c:v>Насколько эффективным было наше последнее совместное проектное взаимодействие?</c:v>
                </c:pt>
                <c:pt idx="10">
                  <c:v> Решения принимаются совместно, с учетом мнений обеих команд</c:v>
                </c:pt>
                <c:pt idx="11">
                  <c:v>Мы готовы поддерживать друг друга, если одна из команд испытывает трудности</c:v>
                </c:pt>
                <c:pt idx="12">
                  <c:v>Между нашими командами нет конфликта из-за пересечения зон ответственности</c:v>
                </c:pt>
                <c:pt idx="13">
                  <c:v>Мы используем понятные термины при обсуждении задач</c:v>
                </c:pt>
                <c:pt idx="14">
                  <c:v>При возникновении сложных ситуаций мы работаем вместе над их решением</c:v>
                </c:pt>
                <c:pt idx="15">
                  <c:v>Я могу легко обратиться к членам другой команды за помощью или разъяснениями</c:v>
                </c:pt>
              </c:strCache>
            </c:strRef>
          </c:cat>
          <c:val>
            <c:numRef>
              <c:f>'[2025-02-20 Opros krosskomandnogo vzaimodeistviia BA-SA_424.xlsx]Sheet'!$A$21:$P$21</c:f>
              <c:numCache>
                <c:formatCode>General</c:formatCode>
                <c:ptCount val="16"/>
                <c:pt idx="0">
                  <c:v>2.7333333333333334</c:v>
                </c:pt>
                <c:pt idx="1">
                  <c:v>3.6</c:v>
                </c:pt>
                <c:pt idx="2">
                  <c:v>3.7333333333333334</c:v>
                </c:pt>
                <c:pt idx="3">
                  <c:v>3.8666666666666667</c:v>
                </c:pt>
                <c:pt idx="4">
                  <c:v>3.8666666666666667</c:v>
                </c:pt>
                <c:pt idx="5">
                  <c:v>3.9333333333333331</c:v>
                </c:pt>
                <c:pt idx="6">
                  <c:v>4</c:v>
                </c:pt>
                <c:pt idx="7">
                  <c:v>4.0666666666666664</c:v>
                </c:pt>
                <c:pt idx="8">
                  <c:v>4.1333333333333337</c:v>
                </c:pt>
                <c:pt idx="9">
                  <c:v>4.2</c:v>
                </c:pt>
                <c:pt idx="10">
                  <c:v>4.2666666666666666</c:v>
                </c:pt>
                <c:pt idx="11">
                  <c:v>4.333333333333333</c:v>
                </c:pt>
                <c:pt idx="12">
                  <c:v>4.333333333333333</c:v>
                </c:pt>
                <c:pt idx="13">
                  <c:v>4.4000000000000004</c:v>
                </c:pt>
                <c:pt idx="14">
                  <c:v>4.5333333333333332</c:v>
                </c:pt>
                <c:pt idx="15">
                  <c:v>4.5999999999999996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A2-43AD-9F2A-D50A4E33AF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326293968"/>
        <c:axId val="326298888"/>
      </c:barChart>
      <c:catAx>
        <c:axId val="3262939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26298888"/>
        <c:crosses val="autoZero"/>
        <c:auto val="1"/>
        <c:lblAlgn val="ctr"/>
        <c:lblOffset val="100"/>
        <c:noMultiLvlLbl val="0"/>
      </c:catAx>
      <c:valAx>
        <c:axId val="32629888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262939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[2025-02-20 Opros krosskomandnogo vzaimodeistviia BA-SA_424.xlsx]Лист1!Сводная таблица7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Как часто вам кажется, что существует недостаток информации или документации при взаимодействии с командой БА?</a:t>
            </a:r>
          </a:p>
        </c:rich>
      </c:tx>
      <c:layout>
        <c:manualLayout>
          <c:xMode val="edge"/>
          <c:yMode val="edge"/>
          <c:x val="0.12747900262467191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Лист1!$B$3</c:f>
              <c:strCache>
                <c:ptCount val="1"/>
                <c:pt idx="0">
                  <c:v>Итог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Лист1!$A$4:$A$6</c:f>
              <c:strCache>
                <c:ptCount val="3"/>
                <c:pt idx="0">
                  <c:v>Всегда</c:v>
                </c:pt>
                <c:pt idx="1">
                  <c:v>Иногда</c:v>
                </c:pt>
                <c:pt idx="2">
                  <c:v>Часто</c:v>
                </c:pt>
              </c:strCache>
            </c:strRef>
          </c:cat>
          <c:val>
            <c:numRef>
              <c:f>Лист1!$B$4:$B$6</c:f>
              <c:numCache>
                <c:formatCode>General</c:formatCode>
                <c:ptCount val="3"/>
                <c:pt idx="0">
                  <c:v>1</c:v>
                </c:pt>
                <c:pt idx="1">
                  <c:v>6</c:v>
                </c:pt>
                <c:pt idx="2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289-43D9-AF81-969B858B70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20813424"/>
        <c:axId val="420809816"/>
      </c:barChart>
      <c:catAx>
        <c:axId val="4208134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20809816"/>
        <c:crosses val="autoZero"/>
        <c:auto val="1"/>
        <c:lblAlgn val="ctr"/>
        <c:lblOffset val="100"/>
        <c:noMultiLvlLbl val="0"/>
      </c:catAx>
      <c:valAx>
        <c:axId val="420809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208134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560CB-B1D2-4DDD-BD5C-DFE3F1E021BA}" type="datetimeFigureOut">
              <a:rPr lang="ru-RU" smtClean="0"/>
              <a:t>20.02.2025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53436-4AD3-46E3-B7D8-EFD5CE3F8A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5644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560CB-B1D2-4DDD-BD5C-DFE3F1E021BA}" type="datetimeFigureOut">
              <a:rPr lang="ru-RU" smtClean="0"/>
              <a:t>20.02.2025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53436-4AD3-46E3-B7D8-EFD5CE3F8A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4792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560CB-B1D2-4DDD-BD5C-DFE3F1E021BA}" type="datetimeFigureOut">
              <a:rPr lang="ru-RU" smtClean="0"/>
              <a:t>20.02.2025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53436-4AD3-46E3-B7D8-EFD5CE3F8A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2895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560CB-B1D2-4DDD-BD5C-DFE3F1E021BA}" type="datetimeFigureOut">
              <a:rPr lang="ru-RU" smtClean="0"/>
              <a:t>20.02.2025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53436-4AD3-46E3-B7D8-EFD5CE3F8A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0733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560CB-B1D2-4DDD-BD5C-DFE3F1E021BA}" type="datetimeFigureOut">
              <a:rPr lang="ru-RU" smtClean="0"/>
              <a:t>20.02.2025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53436-4AD3-46E3-B7D8-EFD5CE3F8A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6127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560CB-B1D2-4DDD-BD5C-DFE3F1E021BA}" type="datetimeFigureOut">
              <a:rPr lang="ru-RU" smtClean="0"/>
              <a:t>20.02.2025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53436-4AD3-46E3-B7D8-EFD5CE3F8A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588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560CB-B1D2-4DDD-BD5C-DFE3F1E021BA}" type="datetimeFigureOut">
              <a:rPr lang="ru-RU" smtClean="0"/>
              <a:t>20.02.2025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53436-4AD3-46E3-B7D8-EFD5CE3F8A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789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560CB-B1D2-4DDD-BD5C-DFE3F1E021BA}" type="datetimeFigureOut">
              <a:rPr lang="ru-RU" smtClean="0"/>
              <a:t>20.02.2025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53436-4AD3-46E3-B7D8-EFD5CE3F8A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1910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560CB-B1D2-4DDD-BD5C-DFE3F1E021BA}" type="datetimeFigureOut">
              <a:rPr lang="ru-RU" smtClean="0"/>
              <a:t>20.02.2025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53436-4AD3-46E3-B7D8-EFD5CE3F8A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4302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560CB-B1D2-4DDD-BD5C-DFE3F1E021BA}" type="datetimeFigureOut">
              <a:rPr lang="ru-RU" smtClean="0"/>
              <a:t>20.02.2025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53436-4AD3-46E3-B7D8-EFD5CE3F8A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9905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560CB-B1D2-4DDD-BD5C-DFE3F1E021BA}" type="datetimeFigureOut">
              <a:rPr lang="ru-RU" smtClean="0"/>
              <a:t>20.02.2025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53436-4AD3-46E3-B7D8-EFD5CE3F8A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0954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0560CB-B1D2-4DDD-BD5C-DFE3F1E021BA}" type="datetimeFigureOut">
              <a:rPr lang="ru-RU" smtClean="0"/>
              <a:t>20.02.2025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153436-4AD3-46E3-B7D8-EFD5CE3F8A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3391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154" y="876381"/>
            <a:ext cx="7420707" cy="4697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07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5391217"/>
              </p:ext>
            </p:extLst>
          </p:nvPr>
        </p:nvGraphicFramePr>
        <p:xfrm>
          <a:off x="899746" y="462817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Прямоугольник 1"/>
          <p:cNvSpPr/>
          <p:nvPr/>
        </p:nvSpPr>
        <p:spPr>
          <a:xfrm>
            <a:off x="3109546" y="527753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где 1 означает "совершенно не так", а 5 — "полностью согласен"</a:t>
            </a:r>
          </a:p>
        </p:txBody>
      </p:sp>
    </p:spTree>
    <p:extLst>
      <p:ext uri="{BB962C8B-B14F-4D97-AF65-F5344CB8AC3E}">
        <p14:creationId xmlns:p14="http://schemas.microsoft.com/office/powerpoint/2010/main" val="1229245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Диаграмма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45887366"/>
              </p:ext>
            </p:extLst>
          </p:nvPr>
        </p:nvGraphicFramePr>
        <p:xfrm>
          <a:off x="2321168" y="668215"/>
          <a:ext cx="6814039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95110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948080" y="369250"/>
            <a:ext cx="75804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Какие моменты требуют улучшения? (ответы в свободной форме)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474785" y="887008"/>
            <a:ext cx="11087100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ru-RU" sz="1400" dirty="0" smtClean="0"/>
              <a:t>Большая прозрачность связей с функционалом (логикой) смежных экранов. Унифицированная терминология сущностей и событий (в рамках сборки) </a:t>
            </a:r>
          </a:p>
          <a:p>
            <a:pPr marL="228600" indent="-228600">
              <a:buFont typeface="+mj-lt"/>
              <a:buAutoNum type="arabicPeriod"/>
            </a:pPr>
            <a:r>
              <a:rPr lang="ru-RU" sz="1400" dirty="0" smtClean="0"/>
              <a:t>всё из перечисленного требует улучшения</a:t>
            </a:r>
          </a:p>
          <a:p>
            <a:pPr marL="228600" indent="-228600">
              <a:buFont typeface="+mj-lt"/>
              <a:buAutoNum type="arabicPeriod"/>
            </a:pPr>
            <a:r>
              <a:rPr lang="ru-RU" sz="1400" dirty="0" smtClean="0"/>
              <a:t>Постановка более четких бизнес-требований (визуализация требований с помощью: </a:t>
            </a:r>
            <a:r>
              <a:rPr lang="ru-RU" sz="1400" dirty="0" err="1" smtClean="0"/>
              <a:t>bpmn</a:t>
            </a:r>
            <a:r>
              <a:rPr lang="ru-RU" sz="1400" dirty="0" smtClean="0"/>
              <a:t>-диаграмм, компонентной диаграммы или диаграммы последовательности).</a:t>
            </a:r>
          </a:p>
          <a:p>
            <a:pPr marL="228600" indent="-228600">
              <a:buFont typeface="+mj-lt"/>
              <a:buAutoNum type="arabicPeriod"/>
            </a:pPr>
            <a:r>
              <a:rPr lang="ru-RU" sz="1400" dirty="0" smtClean="0"/>
              <a:t>"Понимание о том, чем занимаются другие команды - 30%. Оно формируется за счет </a:t>
            </a:r>
            <a:r>
              <a:rPr lang="ru-RU" sz="1400" dirty="0" err="1" smtClean="0"/>
              <a:t>демо</a:t>
            </a:r>
            <a:r>
              <a:rPr lang="ru-RU" sz="1400" dirty="0" smtClean="0"/>
              <a:t> и встреч по обмену опытом. Если нужно больше (а как правило нужно) - тогда приходиться ходить к другим командам и задавать вопросы."</a:t>
            </a:r>
          </a:p>
          <a:p>
            <a:pPr marL="228600" indent="-228600">
              <a:buFont typeface="+mj-lt"/>
              <a:buAutoNum type="arabicPeriod"/>
            </a:pPr>
            <a:r>
              <a:rPr lang="ru-RU" sz="1400" dirty="0" smtClean="0"/>
              <a:t>Требуется повысить качество проработки документации (например, UC, описаний экранов)</a:t>
            </a:r>
          </a:p>
          <a:p>
            <a:pPr marL="228600" indent="-228600">
              <a:buFont typeface="+mj-lt"/>
              <a:buAutoNum type="arabicPeriod"/>
            </a:pPr>
            <a:r>
              <a:rPr lang="ru-RU" sz="1400" dirty="0" smtClean="0"/>
              <a:t>Так как уже спроектировано достаточное количество экранов, нужно навести порядок в имеющих записях внутри объектов. Из-за тестирование команды создавали </a:t>
            </a:r>
            <a:r>
              <a:rPr lang="ru-RU" sz="1400" dirty="0" err="1" smtClean="0"/>
              <a:t>невалидные</a:t>
            </a:r>
            <a:r>
              <a:rPr lang="ru-RU" sz="1400" dirty="0" smtClean="0"/>
              <a:t> записи, которые многократно усложняют интеграцию новых объектов при проектировании и разработки объектной модели и проектирование тестовых запросов для нового экрана, так как непонятно, записи которые имеются,  имеют </a:t>
            </a:r>
            <a:r>
              <a:rPr lang="ru-RU" sz="1400" dirty="0" err="1" smtClean="0"/>
              <a:t>валдиные</a:t>
            </a:r>
            <a:r>
              <a:rPr lang="ru-RU" sz="1400" dirty="0" smtClean="0"/>
              <a:t> записи в атрибутах, параметр </a:t>
            </a:r>
            <a:r>
              <a:rPr lang="ru-RU" sz="1400" dirty="0" err="1" smtClean="0"/>
              <a:t>false</a:t>
            </a:r>
            <a:r>
              <a:rPr lang="ru-RU" sz="1400" dirty="0" smtClean="0"/>
              <a:t> для исключения таких записей часто приводит к тому, что валидные записи </a:t>
            </a:r>
            <a:r>
              <a:rPr lang="ru-RU" sz="1400" dirty="0" err="1" smtClean="0"/>
              <a:t>отсуствуют</a:t>
            </a:r>
            <a:r>
              <a:rPr lang="ru-RU" sz="1400" dirty="0" smtClean="0"/>
              <a:t> вовсе. </a:t>
            </a:r>
          </a:p>
          <a:p>
            <a:pPr marL="228600" indent="-228600">
              <a:buFont typeface="+mj-lt"/>
              <a:buAutoNum type="arabicPeriod"/>
            </a:pPr>
            <a:r>
              <a:rPr lang="ru-RU" sz="1400" dirty="0" smtClean="0"/>
              <a:t>"Желательна более подробная и детальная проработка UC со стороны БА (желательно со схемами процессов для наглядности). </a:t>
            </a:r>
          </a:p>
          <a:p>
            <a:pPr marL="228600" indent="-228600">
              <a:buFont typeface="+mj-lt"/>
              <a:buAutoNum type="arabicPeriod"/>
            </a:pPr>
            <a:r>
              <a:rPr lang="ru-RU" sz="1400" dirty="0" smtClean="0"/>
              <a:t>- Часто получается, что СА погружаются в бизнес-процесс вместе с бизнесом и БА на встречах, </a:t>
            </a:r>
            <a:r>
              <a:rPr lang="ru-RU" sz="1400" dirty="0" err="1" smtClean="0"/>
              <a:t>отрисовывают</a:t>
            </a:r>
            <a:r>
              <a:rPr lang="ru-RU" sz="1400" dirty="0" smtClean="0"/>
              <a:t> схемы процесса. </a:t>
            </a:r>
          </a:p>
          <a:p>
            <a:pPr marL="228600" indent="-228600">
              <a:buFont typeface="+mj-lt"/>
              <a:buAutoNum type="arabicPeriod"/>
            </a:pPr>
            <a:r>
              <a:rPr lang="ru-RU" sz="1400" dirty="0" smtClean="0"/>
              <a:t>- На некоторые технические вопросы БА ответить не могут и все равно приходится идти к бизнесу, самостоятельно смотреть работу процесса в </a:t>
            </a:r>
            <a:r>
              <a:rPr lang="ru-RU" sz="1400" dirty="0" err="1" smtClean="0"/>
              <a:t>QMETе</a:t>
            </a:r>
            <a:r>
              <a:rPr lang="ru-RU" sz="1400" dirty="0" smtClean="0"/>
              <a:t>."</a:t>
            </a:r>
          </a:p>
          <a:p>
            <a:pPr marL="228600" indent="-228600">
              <a:buFont typeface="+mj-lt"/>
              <a:buAutoNum type="arabicPeriod"/>
            </a:pPr>
            <a:r>
              <a:rPr lang="ru-RU" sz="1400" dirty="0" smtClean="0"/>
              <a:t>Организация доступа в QMET </a:t>
            </a:r>
            <a:r>
              <a:rPr lang="ru-RU" sz="1400" dirty="0" err="1" smtClean="0"/>
              <a:t>прод</a:t>
            </a:r>
            <a:r>
              <a:rPr lang="ru-RU" sz="1400" dirty="0" smtClean="0"/>
              <a:t> для БА </a:t>
            </a:r>
            <a:r>
              <a:rPr lang="ru-RU" sz="1400" dirty="0" err="1" smtClean="0"/>
              <a:t>Аксеникс</a:t>
            </a:r>
            <a:r>
              <a:rPr lang="ru-RU" sz="1400" dirty="0" smtClean="0"/>
              <a:t>, поскольку часть функционала не совпадает с тем, что доступно для БА Северстали</a:t>
            </a:r>
          </a:p>
          <a:p>
            <a:pPr marL="228600" indent="-228600">
              <a:buFont typeface="+mj-lt"/>
              <a:buAutoNum type="arabicPeriod"/>
            </a:pPr>
            <a:r>
              <a:rPr lang="ru-RU" sz="1400" dirty="0" smtClean="0"/>
              <a:t>Необходим обязательный совместный просмотр функционала на QMET, на макете в рамках </a:t>
            </a:r>
            <a:r>
              <a:rPr lang="ru-RU" sz="1400" dirty="0" err="1" smtClean="0"/>
              <a:t>kickoff</a:t>
            </a:r>
            <a:r>
              <a:rPr lang="ru-RU" sz="1400" dirty="0" smtClean="0"/>
              <a:t> встречи по экрану. Это позволит обнаружить подводные камни в конфигурировании на раннем этапе.</a:t>
            </a:r>
          </a:p>
          <a:p>
            <a:pPr marL="228600" indent="-228600">
              <a:buFont typeface="+mj-lt"/>
              <a:buAutoNum type="arabicPeriod"/>
            </a:pPr>
            <a:r>
              <a:rPr lang="ru-RU" sz="1400" dirty="0" smtClean="0"/>
              <a:t>Хотелось бы более своевременного и актуального обновления документации (UC, описание экранов и т.д.)</a:t>
            </a:r>
          </a:p>
          <a:p>
            <a:pPr marL="228600" indent="-228600">
              <a:buFont typeface="+mj-lt"/>
              <a:buAutoNum type="arabicPeriod"/>
            </a:pPr>
            <a:r>
              <a:rPr lang="ru-RU" sz="1400" dirty="0" smtClean="0"/>
              <a:t>"со стороны БА часто идут совещания с бизнесом.</a:t>
            </a:r>
          </a:p>
          <a:p>
            <a:pPr marL="228600" indent="-228600">
              <a:buFont typeface="+mj-lt"/>
              <a:buAutoNum type="arabicPeriod"/>
            </a:pPr>
            <a:r>
              <a:rPr lang="ru-RU" sz="1400" dirty="0" smtClean="0"/>
              <a:t>конечно можно было бы на них звать и СА, особенно когда времени остается мало, либо необходимо генерировать компромиссное решение."</a:t>
            </a:r>
          </a:p>
          <a:p>
            <a:pPr marL="228600" indent="-228600">
              <a:buFont typeface="+mj-lt"/>
              <a:buAutoNum type="arabicPeriod"/>
            </a:pPr>
            <a:r>
              <a:rPr lang="ru-RU" sz="1400" dirty="0" smtClean="0"/>
              <a:t>более подробное изучение экранов с БА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969468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2440" y="128905"/>
            <a:ext cx="10515600" cy="503555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Выводы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66053" y="632460"/>
            <a:ext cx="1159705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100" b="1" i="0" dirty="0" smtClean="0">
                <a:effectLst/>
                <a:latin typeface="ui-sans-serif"/>
              </a:rPr>
              <a:t>1. Низкое качество и прозрачность документации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100" b="1" i="0" dirty="0" smtClean="0">
                <a:solidFill>
                  <a:schemeClr val="accent5">
                    <a:lumMod val="75000"/>
                  </a:schemeClr>
                </a:solidFill>
                <a:effectLst/>
                <a:latin typeface="ui-sans-serif"/>
              </a:rPr>
              <a:t>Действие 1: </a:t>
            </a:r>
            <a:r>
              <a:rPr lang="ru-RU" sz="1100" b="0" i="0" dirty="0" smtClean="0">
                <a:solidFill>
                  <a:schemeClr val="accent5">
                    <a:lumMod val="75000"/>
                  </a:schemeClr>
                </a:solidFill>
                <a:effectLst/>
                <a:latin typeface="ui-sans-serif"/>
              </a:rPr>
              <a:t>Внедрить единые шаблоны для UC (</a:t>
            </a:r>
            <a:r>
              <a:rPr lang="ru-RU" sz="1100" b="0" i="0" dirty="0" err="1" smtClean="0">
                <a:solidFill>
                  <a:schemeClr val="accent5">
                    <a:lumMod val="75000"/>
                  </a:schemeClr>
                </a:solidFill>
                <a:effectLst/>
                <a:latin typeface="ui-sans-serif"/>
              </a:rPr>
              <a:t>use</a:t>
            </a:r>
            <a:r>
              <a:rPr lang="ru-RU" sz="1100" b="0" i="0" dirty="0" smtClean="0">
                <a:solidFill>
                  <a:schemeClr val="accent5">
                    <a:lumMod val="75000"/>
                  </a:schemeClr>
                </a:solidFill>
                <a:effectLst/>
                <a:latin typeface="ui-sans-serif"/>
              </a:rPr>
              <a:t> </a:t>
            </a:r>
            <a:r>
              <a:rPr lang="ru-RU" sz="1100" b="0" i="0" dirty="0" err="1" smtClean="0">
                <a:solidFill>
                  <a:schemeClr val="accent5">
                    <a:lumMod val="75000"/>
                  </a:schemeClr>
                </a:solidFill>
                <a:effectLst/>
                <a:latin typeface="ui-sans-serif"/>
              </a:rPr>
              <a:t>cases</a:t>
            </a:r>
            <a:r>
              <a:rPr lang="ru-RU" sz="1100" b="0" i="0" dirty="0" smtClean="0">
                <a:solidFill>
                  <a:schemeClr val="accent5">
                    <a:lumMod val="75000"/>
                  </a:schemeClr>
                </a:solidFill>
                <a:effectLst/>
                <a:latin typeface="ui-sans-serif"/>
              </a:rPr>
              <a:t>), описаний экранов и других документов.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100" b="1" i="0" dirty="0" smtClean="0">
                <a:solidFill>
                  <a:schemeClr val="accent5">
                    <a:lumMod val="75000"/>
                  </a:schemeClr>
                </a:solidFill>
                <a:effectLst/>
                <a:latin typeface="ui-sans-serif"/>
              </a:rPr>
              <a:t>Действие 2: </a:t>
            </a:r>
            <a:r>
              <a:rPr lang="ru-RU" sz="1100" b="0" i="0" dirty="0" smtClean="0">
                <a:solidFill>
                  <a:schemeClr val="accent5">
                    <a:lumMod val="75000"/>
                  </a:schemeClr>
                </a:solidFill>
                <a:effectLst/>
                <a:latin typeface="ui-sans-serif"/>
              </a:rPr>
              <a:t>Создать справочник унифицированных терминов и их определений для всех команд.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100" b="1" i="0" dirty="0" smtClean="0">
                <a:solidFill>
                  <a:schemeClr val="accent5">
                    <a:lumMod val="75000"/>
                  </a:schemeClr>
                </a:solidFill>
                <a:effectLst/>
                <a:latin typeface="ui-sans-serif"/>
              </a:rPr>
              <a:t>Действие 3: </a:t>
            </a:r>
            <a:r>
              <a:rPr lang="ru-RU" sz="1100" b="0" i="0" dirty="0" smtClean="0">
                <a:solidFill>
                  <a:schemeClr val="accent5">
                    <a:lumMod val="75000"/>
                  </a:schemeClr>
                </a:solidFill>
                <a:effectLst/>
                <a:latin typeface="ui-sans-serif"/>
              </a:rPr>
              <a:t>Обеспечить своевременное обновление документации после каждого изменения.</a:t>
            </a:r>
          </a:p>
          <a:p>
            <a:r>
              <a:rPr lang="ru-RU" sz="1100" b="1" i="0" dirty="0" smtClean="0">
                <a:effectLst/>
                <a:latin typeface="ui-sans-serif"/>
              </a:rPr>
              <a:t>2. Отсутствие прозрачности связей между функционалом смежных экранов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100" b="1" i="0" dirty="0" smtClean="0">
                <a:solidFill>
                  <a:schemeClr val="accent5">
                    <a:lumMod val="75000"/>
                  </a:schemeClr>
                </a:solidFill>
                <a:effectLst/>
                <a:latin typeface="ui-sans-serif"/>
              </a:rPr>
              <a:t>Действие 1: </a:t>
            </a:r>
            <a:r>
              <a:rPr lang="ru-RU" sz="1100" b="0" i="0" dirty="0" smtClean="0">
                <a:solidFill>
                  <a:schemeClr val="accent5">
                    <a:lumMod val="75000"/>
                  </a:schemeClr>
                </a:solidFill>
                <a:effectLst/>
                <a:latin typeface="ui-sans-serif"/>
              </a:rPr>
              <a:t>Разработать карту зависимостей между экранами и функциональными блоками.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100" b="1" i="0" dirty="0" smtClean="0">
                <a:solidFill>
                  <a:schemeClr val="accent5">
                    <a:lumMod val="75000"/>
                  </a:schemeClr>
                </a:solidFill>
                <a:effectLst/>
                <a:latin typeface="ui-sans-serif"/>
              </a:rPr>
              <a:t>Действие 2: </a:t>
            </a:r>
            <a:r>
              <a:rPr lang="ru-RU" sz="1100" b="0" i="0" dirty="0" smtClean="0">
                <a:solidFill>
                  <a:schemeClr val="accent5">
                    <a:lumMod val="75000"/>
                  </a:schemeClr>
                </a:solidFill>
                <a:effectLst/>
                <a:latin typeface="ui-sans-serif"/>
              </a:rPr>
              <a:t>Добавить раздел "Связанные экраны/функции" в описание каждого экрана или UC.</a:t>
            </a:r>
          </a:p>
          <a:p>
            <a:r>
              <a:rPr lang="ru-RU" sz="1100" b="1" i="0" dirty="0" smtClean="0">
                <a:effectLst/>
                <a:latin typeface="ui-sans-serif"/>
              </a:rPr>
              <a:t>3. Недостаточная коммуникация между командами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100" b="1" i="0" dirty="0" smtClean="0">
                <a:solidFill>
                  <a:schemeClr val="accent5">
                    <a:lumMod val="75000"/>
                  </a:schemeClr>
                </a:solidFill>
                <a:effectLst/>
                <a:latin typeface="ui-sans-serif"/>
              </a:rPr>
              <a:t>Действие 1: </a:t>
            </a:r>
            <a:r>
              <a:rPr lang="ru-RU" sz="1100" b="0" i="0" dirty="0" smtClean="0">
                <a:solidFill>
                  <a:schemeClr val="accent5">
                    <a:lumMod val="75000"/>
                  </a:schemeClr>
                </a:solidFill>
                <a:effectLst/>
                <a:latin typeface="ui-sans-serif"/>
              </a:rPr>
              <a:t>Ввести регулярные встречи между BA и SA для обмена опытом и понимания задач друг друга.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100" b="1" i="0" dirty="0" smtClean="0">
                <a:solidFill>
                  <a:schemeClr val="accent5">
                    <a:lumMod val="75000"/>
                  </a:schemeClr>
                </a:solidFill>
                <a:effectLst/>
                <a:latin typeface="ui-sans-serif"/>
              </a:rPr>
              <a:t>Действие 2: </a:t>
            </a:r>
            <a:r>
              <a:rPr lang="ru-RU" sz="1100" b="0" i="0" dirty="0" smtClean="0">
                <a:solidFill>
                  <a:schemeClr val="accent5">
                    <a:lumMod val="75000"/>
                  </a:schemeClr>
                </a:solidFill>
                <a:effectLst/>
                <a:latin typeface="ui-sans-serif"/>
              </a:rPr>
              <a:t>Установить четкие границы ответственности между командами.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100" b="1" i="0" dirty="0" smtClean="0">
                <a:solidFill>
                  <a:schemeClr val="accent5">
                    <a:lumMod val="75000"/>
                  </a:schemeClr>
                </a:solidFill>
                <a:effectLst/>
                <a:latin typeface="ui-sans-serif"/>
              </a:rPr>
              <a:t>Действие 3: </a:t>
            </a:r>
            <a:r>
              <a:rPr lang="ru-RU" sz="1100" b="0" i="0" dirty="0" smtClean="0">
                <a:solidFill>
                  <a:schemeClr val="accent5">
                    <a:lumMod val="75000"/>
                  </a:schemeClr>
                </a:solidFill>
                <a:effectLst/>
                <a:latin typeface="ui-sans-serif"/>
              </a:rPr>
              <a:t>Внедрить обязательный совместный просмотр функционала на ранних этапах (</a:t>
            </a:r>
            <a:r>
              <a:rPr lang="ru-RU" sz="1100" b="0" i="0" dirty="0" err="1" smtClean="0">
                <a:solidFill>
                  <a:schemeClr val="accent5">
                    <a:lumMod val="75000"/>
                  </a:schemeClr>
                </a:solidFill>
                <a:effectLst/>
                <a:latin typeface="ui-sans-serif"/>
              </a:rPr>
              <a:t>kickoff</a:t>
            </a:r>
            <a:r>
              <a:rPr lang="ru-RU" sz="1100" b="0" i="0" dirty="0" smtClean="0">
                <a:solidFill>
                  <a:schemeClr val="accent5">
                    <a:lumMod val="75000"/>
                  </a:schemeClr>
                </a:solidFill>
                <a:effectLst/>
                <a:latin typeface="ui-sans-serif"/>
              </a:rPr>
              <a:t>-встречи).</a:t>
            </a:r>
          </a:p>
          <a:p>
            <a:r>
              <a:rPr lang="ru-RU" sz="1100" b="1" i="0" dirty="0" smtClean="0">
                <a:effectLst/>
                <a:latin typeface="ui-sans-serif"/>
              </a:rPr>
              <a:t>4. БА не всегда могут ответить на технические вопросы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100" b="1" i="0" dirty="0" smtClean="0">
                <a:solidFill>
                  <a:schemeClr val="accent5">
                    <a:lumMod val="75000"/>
                  </a:schemeClr>
                </a:solidFill>
                <a:effectLst/>
                <a:latin typeface="ui-sans-serif"/>
              </a:rPr>
              <a:t>Действие 1: </a:t>
            </a:r>
            <a:r>
              <a:rPr lang="ru-RU" sz="1100" b="0" i="0" dirty="0" smtClean="0">
                <a:solidFill>
                  <a:schemeClr val="accent5">
                    <a:lumMod val="75000"/>
                  </a:schemeClr>
                </a:solidFill>
                <a:effectLst/>
                <a:latin typeface="ui-sans-serif"/>
              </a:rPr>
              <a:t>Организовать обучение БА по базовым техническим аспектам, чтобы они могли давать первичные ответы.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100" b="1" i="0" dirty="0" smtClean="0">
                <a:solidFill>
                  <a:schemeClr val="accent5">
                    <a:lumMod val="75000"/>
                  </a:schemeClr>
                </a:solidFill>
                <a:effectLst/>
                <a:latin typeface="ui-sans-serif"/>
              </a:rPr>
              <a:t>Действие 2: </a:t>
            </a:r>
            <a:r>
              <a:rPr lang="ru-RU" sz="1100" b="0" i="0" dirty="0" smtClean="0">
                <a:solidFill>
                  <a:schemeClr val="accent5">
                    <a:lumMod val="75000"/>
                  </a:schemeClr>
                </a:solidFill>
                <a:effectLst/>
                <a:latin typeface="ui-sans-serif"/>
              </a:rPr>
              <a:t>Создать FAQ или базу знаний с типовыми вопросами и ответами для быстрого реагирования.</a:t>
            </a:r>
          </a:p>
          <a:p>
            <a:r>
              <a:rPr lang="ru-RU" sz="1100" b="1" i="0" dirty="0" smtClean="0">
                <a:effectLst/>
                <a:latin typeface="ui-sans-serif"/>
              </a:rPr>
              <a:t>5. СА вынуждены погружаться в бизнес-процессы вместе с БА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100" b="1" i="0" dirty="0" smtClean="0">
                <a:solidFill>
                  <a:schemeClr val="accent5">
                    <a:lumMod val="75000"/>
                  </a:schemeClr>
                </a:solidFill>
                <a:effectLst/>
                <a:latin typeface="ui-sans-serif"/>
              </a:rPr>
              <a:t>Действие 1: </a:t>
            </a:r>
            <a:r>
              <a:rPr lang="ru-RU" sz="1100" b="0" i="0" dirty="0" smtClean="0">
                <a:solidFill>
                  <a:schemeClr val="accent5">
                    <a:lumMod val="75000"/>
                  </a:schemeClr>
                </a:solidFill>
                <a:effectLst/>
                <a:latin typeface="ui-sans-serif"/>
              </a:rPr>
              <a:t>Пригласить SA на ключевые совещания с бизнесом, особенно при обсуждении сложных вопросов.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100" b="1" i="0" dirty="0" smtClean="0">
                <a:solidFill>
                  <a:schemeClr val="accent5">
                    <a:lumMod val="75000"/>
                  </a:schemeClr>
                </a:solidFill>
                <a:effectLst/>
                <a:latin typeface="ui-sans-serif"/>
              </a:rPr>
              <a:t>Действие 2: </a:t>
            </a:r>
            <a:r>
              <a:rPr lang="ru-RU" sz="1100" b="0" i="0" dirty="0" smtClean="0">
                <a:solidFill>
                  <a:schemeClr val="accent5">
                    <a:lumMod val="75000"/>
                  </a:schemeClr>
                </a:solidFill>
                <a:effectLst/>
                <a:latin typeface="ui-sans-serif"/>
              </a:rPr>
              <a:t>Внедрить практику совместного анализа бизнес-требований на ранних этапах.</a:t>
            </a:r>
          </a:p>
          <a:p>
            <a:r>
              <a:rPr lang="ru-RU" sz="1100" b="1" i="0" dirty="0" smtClean="0">
                <a:effectLst/>
                <a:latin typeface="ui-sans-serif"/>
              </a:rPr>
              <a:t>6. Отсутствие инструментальной поддержки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100" b="1" i="0" dirty="0" smtClean="0">
                <a:solidFill>
                  <a:schemeClr val="accent5">
                    <a:lumMod val="75000"/>
                  </a:schemeClr>
                </a:solidFill>
                <a:effectLst/>
                <a:latin typeface="ui-sans-serif"/>
              </a:rPr>
              <a:t>Действие 1: </a:t>
            </a:r>
            <a:r>
              <a:rPr lang="ru-RU" sz="1100" b="0" i="0" dirty="0" smtClean="0">
                <a:solidFill>
                  <a:schemeClr val="accent5">
                    <a:lumMod val="75000"/>
                  </a:schemeClr>
                </a:solidFill>
                <a:effectLst/>
                <a:latin typeface="ui-sans-serif"/>
              </a:rPr>
              <a:t>Предоставить всем BA доступ к QMET </a:t>
            </a:r>
            <a:r>
              <a:rPr lang="ru-RU" sz="1100" b="0" i="0" dirty="0" err="1" smtClean="0">
                <a:solidFill>
                  <a:schemeClr val="accent5">
                    <a:lumMod val="75000"/>
                  </a:schemeClr>
                </a:solidFill>
                <a:effectLst/>
                <a:latin typeface="ui-sans-serif"/>
              </a:rPr>
              <a:t>prod</a:t>
            </a:r>
            <a:r>
              <a:rPr lang="ru-RU" sz="1100" b="0" i="0" dirty="0" smtClean="0">
                <a:solidFill>
                  <a:schemeClr val="accent5">
                    <a:lumMod val="75000"/>
                  </a:schemeClr>
                </a:solidFill>
                <a:effectLst/>
                <a:latin typeface="ui-sans-serif"/>
              </a:rPr>
              <a:t>, если это необходимо для их работы.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100" b="1" i="0" dirty="0" smtClean="0">
                <a:solidFill>
                  <a:schemeClr val="accent5">
                    <a:lumMod val="75000"/>
                  </a:schemeClr>
                </a:solidFill>
                <a:effectLst/>
                <a:latin typeface="ui-sans-serif"/>
              </a:rPr>
              <a:t>Действие 2: </a:t>
            </a:r>
            <a:r>
              <a:rPr lang="ru-RU" sz="1100" b="0" i="0" dirty="0" smtClean="0">
                <a:solidFill>
                  <a:schemeClr val="accent5">
                    <a:lumMod val="75000"/>
                  </a:schemeClr>
                </a:solidFill>
                <a:effectLst/>
                <a:latin typeface="ui-sans-serif"/>
              </a:rPr>
              <a:t>Использовать BPMN-диаграммы, компонентные диаграммы и диаграммы последовательности для визуализации требований.</a:t>
            </a:r>
          </a:p>
          <a:p>
            <a:r>
              <a:rPr lang="ru-RU" sz="1100" b="1" i="0" dirty="0" smtClean="0">
                <a:effectLst/>
                <a:latin typeface="ui-sans-serif"/>
              </a:rPr>
              <a:t>7. Недостаточная кооперация на ранних этапах проекта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100" b="1" i="0" dirty="0" smtClean="0">
                <a:solidFill>
                  <a:schemeClr val="accent5">
                    <a:lumMod val="75000"/>
                  </a:schemeClr>
                </a:solidFill>
                <a:effectLst/>
                <a:latin typeface="ui-sans-serif"/>
              </a:rPr>
              <a:t>Действие 1: </a:t>
            </a:r>
            <a:r>
              <a:rPr lang="ru-RU" sz="1100" b="0" i="0" dirty="0" smtClean="0">
                <a:solidFill>
                  <a:schemeClr val="accent5">
                    <a:lumMod val="75000"/>
                  </a:schemeClr>
                </a:solidFill>
                <a:effectLst/>
                <a:latin typeface="ui-sans-serif"/>
              </a:rPr>
              <a:t>Включать SA в процесс обсуждения требований на ранних этапах.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100" b="1" i="0" dirty="0" smtClean="0">
                <a:solidFill>
                  <a:schemeClr val="accent5">
                    <a:lumMod val="75000"/>
                  </a:schemeClr>
                </a:solidFill>
                <a:effectLst/>
                <a:latin typeface="ui-sans-serif"/>
              </a:rPr>
              <a:t>Действие 2: </a:t>
            </a:r>
            <a:r>
              <a:rPr lang="ru-RU" sz="1100" b="0" i="0" dirty="0" smtClean="0">
                <a:solidFill>
                  <a:schemeClr val="accent5">
                    <a:lumMod val="75000"/>
                  </a:schemeClr>
                </a:solidFill>
                <a:effectLst/>
                <a:latin typeface="ui-sans-serif"/>
              </a:rPr>
              <a:t>Внедрить механизм быстрого реагирования на изменения требований.</a:t>
            </a:r>
          </a:p>
          <a:p>
            <a:r>
              <a:rPr lang="ru-RU" sz="1100" b="1" i="0" dirty="0" smtClean="0">
                <a:effectLst/>
                <a:latin typeface="ui-sans-serif"/>
              </a:rPr>
              <a:t>8. Отсутствие культуры совместного принятия решений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100" b="1" i="0" dirty="0" smtClean="0">
                <a:solidFill>
                  <a:schemeClr val="accent5">
                    <a:lumMod val="75000"/>
                  </a:schemeClr>
                </a:solidFill>
                <a:effectLst/>
                <a:latin typeface="ui-sans-serif"/>
              </a:rPr>
              <a:t>Действие 1: </a:t>
            </a:r>
            <a:r>
              <a:rPr lang="ru-RU" sz="1100" b="0" i="0" dirty="0" smtClean="0">
                <a:solidFill>
                  <a:schemeClr val="accent5">
                    <a:lumMod val="75000"/>
                  </a:schemeClr>
                </a:solidFill>
                <a:effectLst/>
                <a:latin typeface="ui-sans-serif"/>
              </a:rPr>
              <a:t>Создать </a:t>
            </a:r>
            <a:r>
              <a:rPr lang="ru-RU" sz="1100" b="0" i="0" dirty="0" err="1" smtClean="0">
                <a:solidFill>
                  <a:schemeClr val="accent5">
                    <a:lumMod val="75000"/>
                  </a:schemeClr>
                </a:solidFill>
                <a:effectLst/>
                <a:latin typeface="ui-sans-serif"/>
              </a:rPr>
              <a:t>culture</a:t>
            </a:r>
            <a:r>
              <a:rPr lang="ru-RU" sz="1100" b="0" i="0" dirty="0" smtClean="0">
                <a:solidFill>
                  <a:schemeClr val="accent5">
                    <a:lumMod val="75000"/>
                  </a:schemeClr>
                </a:solidFill>
                <a:effectLst/>
                <a:latin typeface="ui-sans-serif"/>
              </a:rPr>
              <a:t> </a:t>
            </a:r>
            <a:r>
              <a:rPr lang="ru-RU" sz="1100" b="0" i="0" dirty="0" err="1" smtClean="0">
                <a:solidFill>
                  <a:schemeClr val="accent5">
                    <a:lumMod val="75000"/>
                  </a:schemeClr>
                </a:solidFill>
                <a:effectLst/>
                <a:latin typeface="ui-sans-serif"/>
              </a:rPr>
              <a:t>of</a:t>
            </a:r>
            <a:r>
              <a:rPr lang="ru-RU" sz="1100" b="0" i="0" dirty="0" smtClean="0">
                <a:solidFill>
                  <a:schemeClr val="accent5">
                    <a:lumMod val="75000"/>
                  </a:schemeClr>
                </a:solidFill>
                <a:effectLst/>
                <a:latin typeface="ui-sans-serif"/>
              </a:rPr>
              <a:t> </a:t>
            </a:r>
            <a:r>
              <a:rPr lang="ru-RU" sz="1100" b="0" i="0" dirty="0" err="1" smtClean="0">
                <a:solidFill>
                  <a:schemeClr val="accent5">
                    <a:lumMod val="75000"/>
                  </a:schemeClr>
                </a:solidFill>
                <a:effectLst/>
                <a:latin typeface="ui-sans-serif"/>
              </a:rPr>
              <a:t>collaboration</a:t>
            </a:r>
            <a:r>
              <a:rPr lang="ru-RU" sz="1100" b="0" i="0" dirty="0" smtClean="0">
                <a:solidFill>
                  <a:schemeClr val="accent5">
                    <a:lumMod val="75000"/>
                  </a:schemeClr>
                </a:solidFill>
                <a:effectLst/>
                <a:latin typeface="ui-sans-serif"/>
              </a:rPr>
              <a:t>, где решения принимаются совместно, учитывая мнения обеих команд.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100" b="1" i="0" dirty="0" smtClean="0">
                <a:solidFill>
                  <a:schemeClr val="accent5">
                    <a:lumMod val="75000"/>
                  </a:schemeClr>
                </a:solidFill>
                <a:effectLst/>
                <a:latin typeface="ui-sans-serif"/>
              </a:rPr>
              <a:t>Действие 2: </a:t>
            </a:r>
            <a:r>
              <a:rPr lang="ru-RU" sz="1100" b="0" i="0" dirty="0" smtClean="0">
                <a:solidFill>
                  <a:schemeClr val="accent5">
                    <a:lumMod val="75000"/>
                  </a:schemeClr>
                </a:solidFill>
                <a:effectLst/>
                <a:latin typeface="ui-sans-serif"/>
              </a:rPr>
              <a:t>Внедрить формат совместных </a:t>
            </a:r>
            <a:r>
              <a:rPr lang="ru-RU" sz="1100" b="0" i="0" dirty="0" err="1" smtClean="0">
                <a:solidFill>
                  <a:schemeClr val="accent5">
                    <a:lumMod val="75000"/>
                  </a:schemeClr>
                </a:solidFill>
                <a:effectLst/>
                <a:latin typeface="ui-sans-serif"/>
              </a:rPr>
              <a:t>ретроспектив</a:t>
            </a:r>
            <a:r>
              <a:rPr lang="ru-RU" sz="1100" b="0" i="0" dirty="0" smtClean="0">
                <a:solidFill>
                  <a:schemeClr val="accent5">
                    <a:lumMod val="75000"/>
                  </a:schemeClr>
                </a:solidFill>
                <a:effectLst/>
                <a:latin typeface="ui-sans-serif"/>
              </a:rPr>
              <a:t> для анализа эффективности взаимодействия.</a:t>
            </a:r>
          </a:p>
          <a:p>
            <a:r>
              <a:rPr lang="ru-RU" sz="1100" b="1" i="0" dirty="0" smtClean="0">
                <a:effectLst/>
                <a:latin typeface="ui-sans-serif"/>
              </a:rPr>
              <a:t>9. Недостаточная детализация UC со стороны БА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100" b="1" i="0" dirty="0" smtClean="0">
                <a:solidFill>
                  <a:schemeClr val="accent5">
                    <a:lumMod val="75000"/>
                  </a:schemeClr>
                </a:solidFill>
                <a:effectLst/>
                <a:latin typeface="ui-sans-serif"/>
              </a:rPr>
              <a:t>Действие 1: </a:t>
            </a:r>
            <a:r>
              <a:rPr lang="ru-RU" sz="1100" b="0" i="0" dirty="0" smtClean="0">
                <a:solidFill>
                  <a:schemeClr val="accent5">
                    <a:lumMod val="75000"/>
                  </a:schemeClr>
                </a:solidFill>
                <a:effectLst/>
                <a:latin typeface="ui-sans-serif"/>
              </a:rPr>
              <a:t>Требовать от БА более подробную проработку UC с использованием схем процессов для наглядности.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100" b="1" i="0" dirty="0" smtClean="0">
                <a:solidFill>
                  <a:schemeClr val="accent5">
                    <a:lumMod val="75000"/>
                  </a:schemeClr>
                </a:solidFill>
                <a:effectLst/>
                <a:latin typeface="ui-sans-serif"/>
              </a:rPr>
              <a:t>Действие 2: </a:t>
            </a:r>
            <a:r>
              <a:rPr lang="ru-RU" sz="1100" b="0" i="0" dirty="0" smtClean="0">
                <a:solidFill>
                  <a:schemeClr val="accent5">
                    <a:lumMod val="75000"/>
                  </a:schemeClr>
                </a:solidFill>
                <a:effectLst/>
                <a:latin typeface="ui-sans-serif"/>
              </a:rPr>
              <a:t>Провести тренинг для БА по составлению качественных UC.</a:t>
            </a:r>
          </a:p>
          <a:p>
            <a:r>
              <a:rPr lang="ru-RU" sz="1100" b="1" i="0" dirty="0" smtClean="0">
                <a:effectLst/>
                <a:latin typeface="ui-sans-serif"/>
              </a:rPr>
              <a:t>10. Проблема: Совещания с бизнесом часто проводятся без участия SA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100" b="1" i="0" dirty="0" smtClean="0">
                <a:solidFill>
                  <a:schemeClr val="accent5">
                    <a:lumMod val="75000"/>
                  </a:schemeClr>
                </a:solidFill>
                <a:effectLst/>
                <a:latin typeface="ui-sans-serif"/>
              </a:rPr>
              <a:t>Действие 1: </a:t>
            </a:r>
            <a:r>
              <a:rPr lang="ru-RU" sz="1100" b="0" i="0" dirty="0" smtClean="0">
                <a:solidFill>
                  <a:schemeClr val="accent5">
                    <a:lumMod val="75000"/>
                  </a:schemeClr>
                </a:solidFill>
                <a:effectLst/>
                <a:latin typeface="ui-sans-serif"/>
              </a:rPr>
              <a:t>Включать SA в совещания с бизнесом, особенно когда время ограничено или требуется генерация компромиссных решений.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100" b="1" i="0" dirty="0" smtClean="0">
                <a:solidFill>
                  <a:schemeClr val="accent5">
                    <a:lumMod val="75000"/>
                  </a:schemeClr>
                </a:solidFill>
                <a:effectLst/>
                <a:latin typeface="ui-sans-serif"/>
              </a:rPr>
              <a:t>Действие 2: </a:t>
            </a:r>
            <a:r>
              <a:rPr lang="ru-RU" sz="1100" b="0" i="0" dirty="0" smtClean="0">
                <a:solidFill>
                  <a:schemeClr val="accent5">
                    <a:lumMod val="75000"/>
                  </a:schemeClr>
                </a:solidFill>
                <a:effectLst/>
                <a:latin typeface="ui-sans-serif"/>
              </a:rPr>
              <a:t>Разработать правило, согласно которому SA должны быть информированы о ключевых встречах с бизнесом.</a:t>
            </a:r>
            <a:endParaRPr lang="ru-RU" sz="1100" b="0" i="0" dirty="0">
              <a:solidFill>
                <a:schemeClr val="accent5">
                  <a:lumMod val="75000"/>
                </a:schemeClr>
              </a:solidFill>
              <a:effectLst/>
              <a:latin typeface="ui-sans-serif"/>
            </a:endParaRPr>
          </a:p>
        </p:txBody>
      </p:sp>
    </p:spTree>
    <p:extLst>
      <p:ext uri="{BB962C8B-B14F-4D97-AF65-F5344CB8AC3E}">
        <p14:creationId xmlns:p14="http://schemas.microsoft.com/office/powerpoint/2010/main" val="422380227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807</Words>
  <Application>Microsoft Office PowerPoint</Application>
  <PresentationFormat>Широкоэкранный</PresentationFormat>
  <Paragraphs>52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ui-sans-serif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Выводы</vt:lpstr>
    </vt:vector>
  </TitlesOfParts>
  <Company>Severstal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Гугнинский Павел Сергеевич</dc:creator>
  <cp:lastModifiedBy>Гугнинский Павел Сергеевич</cp:lastModifiedBy>
  <cp:revision>4</cp:revision>
  <dcterms:created xsi:type="dcterms:W3CDTF">2025-02-20T13:52:41Z</dcterms:created>
  <dcterms:modified xsi:type="dcterms:W3CDTF">2025-02-20T14:49:16Z</dcterms:modified>
</cp:coreProperties>
</file>